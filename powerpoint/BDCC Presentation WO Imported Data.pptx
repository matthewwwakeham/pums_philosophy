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6"/>
  </p:notesMasterIdLst>
  <p:sldIdLst>
    <p:sldId id="256" r:id="rId2"/>
    <p:sldId id="265" r:id="rId3"/>
    <p:sldId id="264" r:id="rId4"/>
    <p:sldId id="269" r:id="rId5"/>
    <p:sldId id="258" r:id="rId6"/>
    <p:sldId id="270" r:id="rId7"/>
    <p:sldId id="260" r:id="rId8"/>
    <p:sldId id="261" r:id="rId9"/>
    <p:sldId id="262" r:id="rId10"/>
    <p:sldId id="263" r:id="rId11"/>
    <p:sldId id="266" r:id="rId12"/>
    <p:sldId id="267" r:id="rId13"/>
    <p:sldId id="271" r:id="rId14"/>
    <p:sldId id="272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3" autoAdjust="0"/>
    <p:restoredTop sz="94733"/>
  </p:normalViewPr>
  <p:slideViewPr>
    <p:cSldViewPr snapToGrid="0">
      <p:cViewPr varScale="1">
        <p:scale>
          <a:sx n="97" d="100"/>
          <a:sy n="97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BBF7-8BA5-450D-95B4-B8FB18602A8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4D8F-2C77-43D6-B67E-C9D5CB959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2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Worthless?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1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Examining the data source – API introduction, identifiers, variables, and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16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pipeline and analysis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6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Population of BA degree holders, and average wage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63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Areas where further education improves outcomes based on popular industries for philosophy majors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40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a professional or other degree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15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must still choose an industry that pays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95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Implications: departments can recruit on outcomes, law school path is validated, self-selection hypothesis worth studying,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4D8F-2C77-43D6-B67E-C9D5CB9592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2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2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4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4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4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9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5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1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3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223B85F9-9CA8-2B5F-4522-0B5D742E7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7AC82-1593-BFBD-0EAD-3F0E54C1E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708" y="2744958"/>
            <a:ext cx="5942583" cy="1368084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latin typeface="+mj-lt"/>
              </a:rPr>
              <a:t>Worthless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00D5DD-A98D-474C-9F88-A8F1F4FD6143}"/>
              </a:ext>
            </a:extLst>
          </p:cNvPr>
          <p:cNvSpPr txBox="1"/>
          <p:nvPr/>
        </p:nvSpPr>
        <p:spPr>
          <a:xfrm>
            <a:off x="3848099" y="4113042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do philosophy graduates end up?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957C5-062F-9F7D-0D4F-A1A955FEE09A}"/>
              </a:ext>
            </a:extLst>
          </p:cNvPr>
          <p:cNvSpPr txBox="1"/>
          <p:nvPr/>
        </p:nvSpPr>
        <p:spPr>
          <a:xfrm>
            <a:off x="0" y="6488668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MATTHEW WAKEHAM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259DA-6C41-07E7-85A6-F460D547F4E8}"/>
              </a:ext>
            </a:extLst>
          </p:cNvPr>
          <p:cNvSpPr txBox="1"/>
          <p:nvPr/>
        </p:nvSpPr>
        <p:spPr>
          <a:xfrm>
            <a:off x="5003800" y="6488668"/>
            <a:ext cx="718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DATA SOURCE: U.S. CENSUS BUREAU ACS 5-YEAR PUMS 2023</a:t>
            </a:r>
          </a:p>
        </p:txBody>
      </p:sp>
    </p:spTree>
    <p:extLst>
      <p:ext uri="{BB962C8B-B14F-4D97-AF65-F5344CB8AC3E}">
        <p14:creationId xmlns:p14="http://schemas.microsoft.com/office/powerpoint/2010/main" val="169825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E484-D4D7-BDB7-E71B-49D552FD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BAEF0-6724-4459-A8D0-A3650F9C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871804"/>
          </a:xfrm>
        </p:spPr>
        <p:txBody>
          <a:bodyPr>
            <a:normAutofit fontScale="92500"/>
          </a:bodyPr>
          <a:lstStyle/>
          <a:p>
            <a:r>
              <a:rPr lang="en-US" dirty="0"/>
              <a:t>The Census Bureau provides public microdata samples accessible through an API based on the American Community Survey with the option of 1-year and 5-year datasets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6812F-9CDB-7F5C-3EDF-03D9DA1EF3B2}"/>
              </a:ext>
            </a:extLst>
          </p:cNvPr>
          <p:cNvSpPr txBox="1"/>
          <p:nvPr/>
        </p:nvSpPr>
        <p:spPr>
          <a:xfrm>
            <a:off x="1076491" y="2961409"/>
            <a:ext cx="4862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Identifiers allow you to select a specific dataset with other classification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DATASET</a:t>
            </a:r>
          </a:p>
          <a:p>
            <a:pPr lvl="1"/>
            <a:r>
              <a:rPr lang="en-US" dirty="0"/>
              <a:t>FOD_CODE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D8380-66EE-7D69-C2F7-7CA1CC01DAEE}"/>
              </a:ext>
            </a:extLst>
          </p:cNvPr>
          <p:cNvSpPr txBox="1"/>
          <p:nvPr/>
        </p:nvSpPr>
        <p:spPr>
          <a:xfrm>
            <a:off x="5939436" y="2961409"/>
            <a:ext cx="44099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Variables define what the columns represent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PWGTP</a:t>
            </a:r>
          </a:p>
          <a:p>
            <a:pPr lvl="1"/>
            <a:r>
              <a:rPr lang="en-US" dirty="0"/>
              <a:t>FOD1P</a:t>
            </a:r>
          </a:p>
          <a:p>
            <a:pPr lvl="1"/>
            <a:r>
              <a:rPr lang="en-US" dirty="0"/>
              <a:t>FOD2P</a:t>
            </a:r>
          </a:p>
          <a:p>
            <a:pPr lvl="1"/>
            <a:r>
              <a:rPr lang="en-US" dirty="0"/>
              <a:t>SCHL</a:t>
            </a:r>
          </a:p>
          <a:p>
            <a:pPr lvl="1"/>
            <a:r>
              <a:rPr lang="en-US" dirty="0"/>
              <a:t>OCCP</a:t>
            </a:r>
          </a:p>
          <a:p>
            <a:pPr lvl="1"/>
            <a:r>
              <a:rPr lang="en-US" dirty="0"/>
              <a:t>INDP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E6D22-0AC9-ECCD-63FF-7B2630CEB730}"/>
              </a:ext>
            </a:extLst>
          </p:cNvPr>
          <p:cNvSpPr txBox="1"/>
          <p:nvPr/>
        </p:nvSpPr>
        <p:spPr>
          <a:xfrm>
            <a:off x="7328703" y="3771624"/>
            <a:ext cx="16313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WAGP</a:t>
            </a:r>
          </a:p>
          <a:p>
            <a:pPr lvl="1"/>
            <a:r>
              <a:rPr lang="en-US" dirty="0"/>
              <a:t>PERNP</a:t>
            </a:r>
          </a:p>
          <a:p>
            <a:pPr lvl="1"/>
            <a:r>
              <a:rPr lang="en-US" dirty="0"/>
              <a:t>ESR</a:t>
            </a:r>
          </a:p>
          <a:p>
            <a:pPr lvl="1"/>
            <a:r>
              <a:rPr lang="en-US" dirty="0"/>
              <a:t>AGEP</a:t>
            </a:r>
          </a:p>
          <a:p>
            <a:pPr lvl="1"/>
            <a:r>
              <a:rPr lang="en-US" dirty="0"/>
              <a:t>GENDER</a:t>
            </a:r>
          </a:p>
        </p:txBody>
      </p:sp>
    </p:spTree>
    <p:extLst>
      <p:ext uri="{BB962C8B-B14F-4D97-AF65-F5344CB8AC3E}">
        <p14:creationId xmlns:p14="http://schemas.microsoft.com/office/powerpoint/2010/main" val="802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D22B-DAAC-ABCE-2B0B-8573E500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DFA1-7478-AADA-5F18-7A854661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 built a complete pipeline</a:t>
            </a:r>
          </a:p>
          <a:p>
            <a:pPr lvl="1"/>
            <a:r>
              <a:rPr lang="en-US" dirty="0"/>
              <a:t>PYTHON &gt; API &gt; S3 &gt; SNOWFLAKE &gt; POWER BI</a:t>
            </a:r>
          </a:p>
          <a:p>
            <a:pPr marL="0" indent="0">
              <a:buNone/>
            </a:pPr>
            <a:r>
              <a:rPr lang="en-US" b="1" dirty="0"/>
              <a:t>Extract, transform, load</a:t>
            </a:r>
          </a:p>
          <a:p>
            <a:pPr lvl="1"/>
            <a:r>
              <a:rPr lang="en-US" dirty="0"/>
              <a:t>Python grabs the dataset from an API with predefined parameters and drops it into S3</a:t>
            </a:r>
          </a:p>
          <a:p>
            <a:pPr lvl="1"/>
            <a:r>
              <a:rPr lang="en-US" dirty="0"/>
              <a:t>Preliminary analysis, calculation to include weight, and views done in Snowflake</a:t>
            </a:r>
          </a:p>
          <a:p>
            <a:pPr lvl="1"/>
            <a:r>
              <a:rPr lang="en-US" dirty="0"/>
              <a:t>Data ultimately loaded into Power Bi to perform further analysis and create dashboards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1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AFEE6697-C62E-97F3-4D9E-9A63D5594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50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7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E33E-0179-3739-4DEA-BE9FB306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They?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7064-586E-4273-A664-BDA952D0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132258"/>
          </a:xfrm>
        </p:spPr>
        <p:txBody>
          <a:bodyPr/>
          <a:lstStyle/>
          <a:p>
            <a:r>
              <a:rPr lang="en-US" b="1" dirty="0"/>
              <a:t>198,785</a:t>
            </a:r>
            <a:r>
              <a:rPr lang="en-US" dirty="0"/>
              <a:t> people hold undergraduate philosophy degrees</a:t>
            </a:r>
          </a:p>
          <a:p>
            <a:r>
              <a:rPr lang="en-US" dirty="0"/>
              <a:t>And finally, the </a:t>
            </a:r>
            <a:r>
              <a:rPr lang="en-US" b="1" dirty="0"/>
              <a:t>numbers</a:t>
            </a:r>
            <a:r>
              <a:rPr lang="en-US" dirty="0"/>
              <a:t> you actually came here for: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B5E1A-8470-C9A9-939A-EBBE9F075060}"/>
              </a:ext>
            </a:extLst>
          </p:cNvPr>
          <p:cNvSpPr txBox="1"/>
          <p:nvPr/>
        </p:nvSpPr>
        <p:spPr>
          <a:xfrm>
            <a:off x="3722314" y="3429000"/>
            <a:ext cx="44342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Average Wage </a:t>
            </a:r>
            <a:r>
              <a:rPr lang="en-US" sz="3200" b="1" dirty="0"/>
              <a:t>$102K</a:t>
            </a:r>
          </a:p>
          <a:p>
            <a:pPr algn="ctr"/>
            <a:r>
              <a:rPr lang="en-US" sz="3200" dirty="0"/>
              <a:t>Median Wage </a:t>
            </a:r>
            <a:r>
              <a:rPr lang="en-US" sz="3200" b="1" dirty="0"/>
              <a:t>$90K</a:t>
            </a:r>
          </a:p>
        </p:txBody>
      </p:sp>
    </p:spTree>
    <p:extLst>
      <p:ext uri="{BB962C8B-B14F-4D97-AF65-F5344CB8AC3E}">
        <p14:creationId xmlns:p14="http://schemas.microsoft.com/office/powerpoint/2010/main" val="158151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43D6207-4DA7-711A-126C-2F872512A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5FAF-D953-BB5F-58DE-38D5D38F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More Education Pay Off?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B6AD-30DA-5AEA-2797-85F5E6EF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132258"/>
          </a:xfrm>
        </p:spPr>
        <p:txBody>
          <a:bodyPr>
            <a:normAutofit/>
          </a:bodyPr>
          <a:lstStyle/>
          <a:p>
            <a:r>
              <a:rPr lang="en-US" dirty="0"/>
              <a:t>Education beyond the undergraduate level may pay off for some people</a:t>
            </a:r>
          </a:p>
          <a:p>
            <a:r>
              <a:rPr lang="en-US" dirty="0"/>
              <a:t>Areas where more education likely improves outcomes for philosophy majors: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609B8-DA2F-51C6-C451-C29E9E454C44}"/>
              </a:ext>
            </a:extLst>
          </p:cNvPr>
          <p:cNvSpPr txBox="1"/>
          <p:nvPr/>
        </p:nvSpPr>
        <p:spPr>
          <a:xfrm>
            <a:off x="3013995" y="3548545"/>
            <a:ext cx="1926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48ED6-67C5-6E82-3807-80BEDA9D9BC3}"/>
              </a:ext>
            </a:extLst>
          </p:cNvPr>
          <p:cNvSpPr txBox="1"/>
          <p:nvPr/>
        </p:nvSpPr>
        <p:spPr>
          <a:xfrm>
            <a:off x="4940766" y="3548545"/>
            <a:ext cx="99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Legal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E2614-4ABF-06DA-116F-D52E1644A63F}"/>
              </a:ext>
            </a:extLst>
          </p:cNvPr>
          <p:cNvSpPr txBox="1"/>
          <p:nvPr/>
        </p:nvSpPr>
        <p:spPr>
          <a:xfrm>
            <a:off x="5935082" y="3548545"/>
            <a:ext cx="155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Business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60414-0B44-66C7-3ED3-CC24D3C7745E}"/>
              </a:ext>
            </a:extLst>
          </p:cNvPr>
          <p:cNvSpPr txBox="1"/>
          <p:nvPr/>
        </p:nvSpPr>
        <p:spPr>
          <a:xfrm>
            <a:off x="7489562" y="3548544"/>
            <a:ext cx="172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237638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216B-D697-F686-03F4-8BD25A16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High Ceiling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D091-9B87-1568-6530-0883C8D1D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1850628"/>
          </a:xfrm>
        </p:spPr>
        <p:txBody>
          <a:bodyPr/>
          <a:lstStyle/>
          <a:p>
            <a:r>
              <a:rPr lang="en-US" dirty="0"/>
              <a:t>Advanced education </a:t>
            </a:r>
            <a:r>
              <a:rPr lang="en-US" b="1" dirty="0"/>
              <a:t>greatly increases</a:t>
            </a:r>
            <a:r>
              <a:rPr lang="en-US" dirty="0"/>
              <a:t> the potential to earn more</a:t>
            </a:r>
          </a:p>
          <a:p>
            <a:r>
              <a:rPr lang="en-US" dirty="0"/>
              <a:t>Based on the most common industries and occupations, </a:t>
            </a:r>
            <a:r>
              <a:rPr lang="en-US" b="1" dirty="0"/>
              <a:t>professional degrees win</a:t>
            </a:r>
          </a:p>
          <a:p>
            <a:r>
              <a:rPr lang="en-US" b="1" dirty="0"/>
              <a:t>Finally</a:t>
            </a:r>
            <a:r>
              <a:rPr lang="en-US" dirty="0"/>
              <a:t>, people identifying as philosophy majors and who pursued further education earn on average: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85C53-50D6-AE56-0DC2-A42310D1CD04}"/>
              </a:ext>
            </a:extLst>
          </p:cNvPr>
          <p:cNvSpPr txBox="1"/>
          <p:nvPr/>
        </p:nvSpPr>
        <p:spPr>
          <a:xfrm>
            <a:off x="2972690" y="3566160"/>
            <a:ext cx="62466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Average Wage </a:t>
            </a:r>
            <a:r>
              <a:rPr lang="en-US" sz="3200" b="1" dirty="0"/>
              <a:t>$107K</a:t>
            </a:r>
          </a:p>
          <a:p>
            <a:pPr algn="ctr"/>
            <a:r>
              <a:rPr lang="en-US" sz="3200" dirty="0"/>
              <a:t>Median Wage </a:t>
            </a:r>
            <a:r>
              <a:rPr lang="en-US" sz="3200" b="1" dirty="0"/>
              <a:t>$94K</a:t>
            </a:r>
          </a:p>
        </p:txBody>
      </p:sp>
    </p:spTree>
    <p:extLst>
      <p:ext uri="{BB962C8B-B14F-4D97-AF65-F5344CB8AC3E}">
        <p14:creationId xmlns:p14="http://schemas.microsoft.com/office/powerpoint/2010/main" val="954720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3ADA-E1B9-A16D-6134-714C8CDA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Realistic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00AC-84DA-D923-E4B5-7A6D9603A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Choice of industry matters</a:t>
            </a:r>
          </a:p>
          <a:p>
            <a:pPr lvl="2"/>
            <a:r>
              <a:rPr lang="en-US" dirty="0"/>
              <a:t>The degree gets your foot in the door like any other – the industry determines your pay</a:t>
            </a:r>
          </a:p>
          <a:p>
            <a:pPr lvl="1"/>
            <a:r>
              <a:rPr lang="en-US" b="1" dirty="0"/>
              <a:t>First in, last out</a:t>
            </a:r>
          </a:p>
          <a:p>
            <a:pPr lvl="2"/>
            <a:r>
              <a:rPr lang="en-US" dirty="0"/>
              <a:t>As a burgeoning industry, tech used to value analytical thinking over credentials</a:t>
            </a:r>
          </a:p>
          <a:p>
            <a:pPr lvl="1"/>
            <a:r>
              <a:rPr lang="en-US" b="1" dirty="0"/>
              <a:t>Context of the student</a:t>
            </a:r>
          </a:p>
          <a:p>
            <a:pPr lvl="2"/>
            <a:r>
              <a:rPr lang="en-US" dirty="0"/>
              <a:t>Location, university, and experience matter</a:t>
            </a:r>
          </a:p>
        </p:txBody>
      </p:sp>
    </p:spTree>
    <p:extLst>
      <p:ext uri="{BB962C8B-B14F-4D97-AF65-F5344CB8AC3E}">
        <p14:creationId xmlns:p14="http://schemas.microsoft.com/office/powerpoint/2010/main" val="170525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DAA4-FBB6-1730-10F2-BE2BECEF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6C6D-E19E-C468-0A82-D99A4313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203350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Philosophy majors find themselves represented in some of the most popular, well-paying industries. What are the implications?</a:t>
            </a:r>
            <a:endParaRPr lang="en-US" dirty="0"/>
          </a:p>
          <a:p>
            <a:pPr lvl="1"/>
            <a:r>
              <a:rPr lang="en-US" dirty="0"/>
              <a:t>It appears possible to have a good career with just the BA</a:t>
            </a:r>
          </a:p>
          <a:p>
            <a:pPr lvl="1"/>
            <a:r>
              <a:rPr lang="en-US" dirty="0"/>
              <a:t>Those who pursue advanced education tend to do even better</a:t>
            </a:r>
          </a:p>
          <a:p>
            <a:pPr lvl="1"/>
            <a:r>
              <a:rPr lang="en-US" dirty="0"/>
              <a:t>Academic departments can now recruit based on measurable outcomes</a:t>
            </a:r>
          </a:p>
          <a:p>
            <a:pPr marL="2286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99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C8D1-BD00-BB82-A794-EFCC710F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CD559-3724-A8FA-BEB6-15090572E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FOD1P</a:t>
            </a:r>
            <a:r>
              <a:rPr lang="en-US" dirty="0"/>
              <a:t> looks for philosophy majors </a:t>
            </a:r>
            <a:r>
              <a:rPr lang="en-US" i="1" dirty="0"/>
              <a:t>first</a:t>
            </a:r>
            <a:r>
              <a:rPr lang="en-US" dirty="0"/>
              <a:t> – </a:t>
            </a:r>
            <a:r>
              <a:rPr lang="en-US" b="1" dirty="0"/>
              <a:t>FOD2P</a:t>
            </a:r>
            <a:r>
              <a:rPr lang="en-US" dirty="0"/>
              <a:t> might include a second major which could positively affect outcomes</a:t>
            </a:r>
          </a:p>
          <a:p>
            <a:r>
              <a:rPr lang="en-US" dirty="0"/>
              <a:t>We can only </a:t>
            </a:r>
            <a:r>
              <a:rPr lang="en-US" b="1" dirty="0"/>
              <a:t>infer</a:t>
            </a:r>
            <a:r>
              <a:rPr lang="en-US" dirty="0"/>
              <a:t> what kind of advanced degree someone has by category and industry</a:t>
            </a:r>
          </a:p>
          <a:p>
            <a:r>
              <a:rPr lang="en-US" b="1" dirty="0"/>
              <a:t>Medians are not weighted</a:t>
            </a:r>
            <a:r>
              <a:rPr lang="en-US" dirty="0"/>
              <a:t>, and while the average is more statistically significant due to being weighted, medians may be more intuitive for some people</a:t>
            </a:r>
          </a:p>
          <a:p>
            <a:r>
              <a:rPr lang="en-US" dirty="0"/>
              <a:t>The American Community Survey does not account for </a:t>
            </a:r>
            <a:r>
              <a:rPr lang="en-US" b="1" dirty="0"/>
              <a:t>certifications</a:t>
            </a:r>
          </a:p>
          <a:p>
            <a:r>
              <a:rPr lang="en-US" dirty="0"/>
              <a:t>No </a:t>
            </a:r>
            <a:r>
              <a:rPr lang="en-US" b="1" dirty="0"/>
              <a:t>comparison group</a:t>
            </a:r>
          </a:p>
        </p:txBody>
      </p:sp>
    </p:spTree>
    <p:extLst>
      <p:ext uri="{BB962C8B-B14F-4D97-AF65-F5344CB8AC3E}">
        <p14:creationId xmlns:p14="http://schemas.microsoft.com/office/powerpoint/2010/main" val="488501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7B138C85-981D-8DCB-7A19-E48F6441B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8C02A9E2-CF78-C7DF-3AB3-C83C3A54A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8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with blue lines&#10;&#10;AI-generated content may be incorrect.">
            <a:extLst>
              <a:ext uri="{FF2B5EF4-FFF2-40B4-BE49-F238E27FC236}">
                <a16:creationId xmlns:a16="http://schemas.microsoft.com/office/drawing/2014/main" id="{0F5AAFD3-D16C-D52D-478A-9E62F74BC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790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ANNOTATIONSNOTESHOWED" val="true"/>
</p:tagLst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4411</TotalTime>
  <Words>525</Words>
  <Application>Microsoft Macintosh PowerPoint</Application>
  <PresentationFormat>Widescreen</PresentationFormat>
  <Paragraphs>87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Neue Haas Grotesk Text Pro</vt:lpstr>
      <vt:lpstr>VanillaVTI</vt:lpstr>
      <vt:lpstr>PowerPoint Presentation</vt:lpstr>
      <vt:lpstr>Data Source</vt:lpstr>
      <vt:lpstr>Pipeline and Methodology</vt:lpstr>
      <vt:lpstr>PowerPoint Presentation</vt:lpstr>
      <vt:lpstr>Who Are They? Cont.</vt:lpstr>
      <vt:lpstr>PowerPoint Presentation</vt:lpstr>
      <vt:lpstr>Does More Education Pay Off?</vt:lpstr>
      <vt:lpstr>The High Ceiling</vt:lpstr>
      <vt:lpstr>The Realistic Picture</vt:lpstr>
      <vt:lpstr>So What?</vt:lpstr>
      <vt:lpstr>Some Limitations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Wakeham</dc:creator>
  <cp:lastModifiedBy>Matthew Wakeham</cp:lastModifiedBy>
  <cp:revision>106</cp:revision>
  <dcterms:created xsi:type="dcterms:W3CDTF">2026-02-24T18:40:52Z</dcterms:created>
  <dcterms:modified xsi:type="dcterms:W3CDTF">2026-03-02T21:11:56Z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ae119f0-38a6-40fc-810e-ef21eb0d5778_Enabled">
    <vt:lpwstr>true</vt:lpwstr>
  </property>
  <property fmtid="{D5CDD505-2E9C-101B-9397-08002B2CF9AE}" pid="3" name="MSIP_Label_9ae119f0-38a6-40fc-810e-ef21eb0d5778_SetDate">
    <vt:lpwstr>2026-02-24T18:47:50Z</vt:lpwstr>
  </property>
  <property fmtid="{D5CDD505-2E9C-101B-9397-08002B2CF9AE}" pid="4" name="MSIP_Label_9ae119f0-38a6-40fc-810e-ef21eb0d5778_Method">
    <vt:lpwstr>Standard</vt:lpwstr>
  </property>
  <property fmtid="{D5CDD505-2E9C-101B-9397-08002B2CF9AE}" pid="5" name="MSIP_Label_9ae119f0-38a6-40fc-810e-ef21eb0d5778_Name">
    <vt:lpwstr>defa4170-0d19-0005-0004-bc88714345d2</vt:lpwstr>
  </property>
  <property fmtid="{D5CDD505-2E9C-101B-9397-08002B2CF9AE}" pid="6" name="MSIP_Label_9ae119f0-38a6-40fc-810e-ef21eb0d5778_SiteId">
    <vt:lpwstr>51099f15-499b-44d5-a287-ac53ac263895</vt:lpwstr>
  </property>
  <property fmtid="{D5CDD505-2E9C-101B-9397-08002B2CF9AE}" pid="7" name="MSIP_Label_9ae119f0-38a6-40fc-810e-ef21eb0d5778_ActionId">
    <vt:lpwstr>0b5c879c-c2ac-48e9-ae7d-949e629406d6</vt:lpwstr>
  </property>
  <property fmtid="{D5CDD505-2E9C-101B-9397-08002B2CF9AE}" pid="8" name="MSIP_Label_9ae119f0-38a6-40fc-810e-ef21eb0d5778_ContentBits">
    <vt:lpwstr>0</vt:lpwstr>
  </property>
  <property fmtid="{D5CDD505-2E9C-101B-9397-08002B2CF9AE}" pid="9" name="MSIP_Label_9ae119f0-38a6-40fc-810e-ef21eb0d5778_Tag">
    <vt:lpwstr>10, 3, 0, 1</vt:lpwstr>
  </property>
</Properties>
</file>